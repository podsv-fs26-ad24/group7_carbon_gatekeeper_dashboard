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65" r:id="rId3"/>
    <p:sldId id="257" r:id="rId4"/>
    <p:sldId id="263" r:id="rId5"/>
    <p:sldId id="258" r:id="rId6"/>
    <p:sldId id="260" r:id="rId7"/>
    <p:sldId id="259" r:id="rId8"/>
    <p:sldId id="264" r:id="rId9"/>
    <p:sldId id="261" r:id="rId10"/>
    <p:sldId id="262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373"/>
    <p:restoredTop sz="89515"/>
  </p:normalViewPr>
  <p:slideViewPr>
    <p:cSldViewPr snapToGrid="0" snapToObjects="1">
      <p:cViewPr>
        <p:scale>
          <a:sx n="130" d="100"/>
          <a:sy n="130" d="100"/>
        </p:scale>
        <p:origin x="232" y="-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1695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Ranked table addition:</a:t>
            </a:r>
            <a:br>
              <a:rPr lang="en-GB" dirty="0"/>
            </a:br>
            <a:r>
              <a:rPr lang="en-GB" dirty="0">
                <a:sym typeface="Wingdings" pitchFamily="2" charset="2"/>
              </a:rPr>
              <a:t> Detailed view of each alternative route (bar charts, CO2 emission…)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52752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roup7carbongatekeeperdashboard-tcfd97crmnpj6suqqgrof2.streamlit.app/" TargetMode="External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0"/>
            <a:ext cx="3657600" cy="6858000"/>
          </a:xfrm>
          <a:prstGeom prst="rect">
            <a:avLst/>
          </a:prstGeom>
          <a:solidFill>
            <a:srgbClr val="0D9488">
              <a:alpha val="12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875520" y="0"/>
            <a:ext cx="2286000" cy="6858000"/>
          </a:xfrm>
          <a:prstGeom prst="rect">
            <a:avLst/>
          </a:prstGeom>
          <a:solidFill>
            <a:srgbClr val="0D9488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0" y="6217920"/>
            <a:ext cx="12161520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114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43891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FS26 - ADLS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137160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Travel</a:t>
            </a:r>
            <a:endParaRPr lang="en-US" sz="6200" dirty="0"/>
          </a:p>
        </p:txBody>
      </p:sp>
      <p:sp>
        <p:nvSpPr>
          <p:cNvPr id="8" name="Text 5"/>
          <p:cNvSpPr/>
          <p:nvPr/>
        </p:nvSpPr>
        <p:spPr>
          <a:xfrm>
            <a:off x="502920" y="233172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Dashboard</a:t>
            </a:r>
            <a:endParaRPr lang="en-US" sz="6200" dirty="0"/>
          </a:p>
        </p:txBody>
      </p:sp>
      <p:sp>
        <p:nvSpPr>
          <p:cNvPr id="9" name="Text 6"/>
          <p:cNvSpPr/>
          <p:nvPr/>
        </p:nvSpPr>
        <p:spPr>
          <a:xfrm>
            <a:off x="502920" y="352044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Tactical decision support for travel and sustainability managers.</a:t>
            </a:r>
            <a:endParaRPr lang="en-US" sz="15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budget compliance · Identify reduction levers · Plan smarter trips.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02920" y="4800600"/>
            <a:ext cx="2286000" cy="1005840"/>
          </a:xfrm>
          <a:prstGeom prst="rect">
            <a:avLst/>
          </a:prstGeom>
          <a:solidFill>
            <a:srgbClr val="1A2B3C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502920" y="48920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502920" y="532180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Units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063240" y="4800600"/>
            <a:ext cx="2286000" cy="1005840"/>
          </a:xfrm>
          <a:prstGeom prst="rect">
            <a:avLst/>
          </a:prstGeom>
          <a:solidFill>
            <a:srgbClr val="1A2B3C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3063240" y="48920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3063240" y="532180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Modes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623560" y="4800600"/>
            <a:ext cx="2286000" cy="1005840"/>
          </a:xfrm>
          <a:prstGeom prst="rect">
            <a:avLst/>
          </a:prstGeom>
          <a:solidFill>
            <a:srgbClr val="1A2B3C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5623560" y="48920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5623560" y="532180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Tracked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E1DF5E88-C26B-F304-0C2A-B87B1F7EC324}"/>
              </a:ext>
            </a:extLst>
          </p:cNvPr>
          <p:cNvSpPr txBox="1"/>
          <p:nvPr/>
        </p:nvSpPr>
        <p:spPr>
          <a:xfrm>
            <a:off x="1238864" y="934064"/>
            <a:ext cx="9144001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Problemschilderung</a:t>
            </a:r>
            <a:endParaRPr lang="en-GB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Von </a:t>
            </a:r>
            <a:r>
              <a:rPr lang="en-GB" dirty="0" err="1"/>
              <a:t>Firma</a:t>
            </a:r>
            <a:r>
              <a:rPr lang="en-GB" dirty="0"/>
              <a:t> </a:t>
            </a:r>
            <a:r>
              <a:rPr lang="en-GB" dirty="0" err="1"/>
              <a:t>x,y</a:t>
            </a:r>
            <a:r>
              <a:rPr lang="en-GB" dirty="0"/>
              <a:t> </a:t>
            </a:r>
            <a:r>
              <a:rPr lang="en-GB" dirty="0" err="1"/>
              <a:t>beauftragt</a:t>
            </a:r>
            <a:r>
              <a:rPr lang="en-GB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Personas </a:t>
            </a:r>
            <a:r>
              <a:rPr lang="en-GB" dirty="0" err="1"/>
              <a:t>mit</a:t>
            </a:r>
            <a:r>
              <a:rPr lang="en-GB" dirty="0"/>
              <a:t> </a:t>
            </a:r>
            <a:r>
              <a:rPr lang="en-GB" dirty="0" err="1"/>
              <a:t>ihren</a:t>
            </a:r>
            <a:r>
              <a:rPr lang="en-GB" dirty="0"/>
              <a:t> Pain – </a:t>
            </a:r>
            <a:r>
              <a:rPr lang="en-GB" dirty="0" err="1"/>
              <a:t>Punkte</a:t>
            </a:r>
            <a:endParaRPr lang="en-GB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--&gt; </a:t>
            </a:r>
            <a:r>
              <a:rPr lang="en-GB" dirty="0" err="1"/>
              <a:t>Folien</a:t>
            </a:r>
            <a:r>
              <a:rPr lang="en-GB" dirty="0"/>
              <a:t> 2 und 3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Lösungsvorschlag</a:t>
            </a:r>
            <a:r>
              <a:rPr lang="en-GB" dirty="0"/>
              <a:t> (Folie 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Ajna + Domenik (Dashboard) 5min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Dario (The </a:t>
            </a:r>
            <a:r>
              <a:rPr lang="en-GB" dirty="0" err="1"/>
              <a:t>Challenge+Persones,Last-word</a:t>
            </a:r>
            <a:r>
              <a:rPr lang="en-GB" dirty="0"/>
              <a:t>) 2.5min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Mica (</a:t>
            </a:r>
            <a:r>
              <a:rPr lang="en-GB" dirty="0" err="1"/>
              <a:t>Lösung</a:t>
            </a:r>
            <a:r>
              <a:rPr lang="en-GB" dirty="0"/>
              <a:t> – Visual Choices) 2.5min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668450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—  WHY THIS DASHBOARD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travel is a significant but manageable source of emissions.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3566160" cy="265176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54864" cy="26517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2402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22402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58368" y="283464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managers lack real-time CO₂ tracking across business units and routes.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7680" y="2057400"/>
            <a:ext cx="3566160" cy="265176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4297680" y="2057400"/>
            <a:ext cx="54864" cy="26517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848" y="224028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74920" y="22402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Drift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498848" y="283464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dashboards, BU carbon budgets are exceeded before anyone notices.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138160" y="2057400"/>
            <a:ext cx="3566160" cy="265176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8138160" y="2057400"/>
            <a:ext cx="54864" cy="26517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9328" y="224028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915400" y="22402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Savings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8339328" y="283464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short-haul flights could switch to train  but no tool surfaces these opportunities.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457200" y="4937760"/>
            <a:ext cx="11247120" cy="1371600"/>
          </a:xfrm>
          <a:prstGeom prst="rect">
            <a:avLst/>
          </a:prstGeom>
          <a:solidFill>
            <a:srgbClr val="0D9488">
              <a:alpha val="18000"/>
            </a:srgbClr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457200" y="4937760"/>
            <a:ext cx="54864" cy="13716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5120640"/>
            <a:ext cx="411480" cy="411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234440" y="5029200"/>
            <a:ext cx="10241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puts budget compliance, geographic heatmaps, and mode-shift recommendations in one place — so every decision saves both money and carbon.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Personas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</a:rPr>
              <a:t>02  —  WHO USES IT</a:t>
            </a:r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</a:rPr>
              <a:t>Two Personas, One Tool</a:t>
            </a:r>
          </a:p>
        </p:txBody>
      </p:sp>
      <p:sp>
        <p:nvSpPr>
          <p:cNvPr id="4" name="Card1"/>
          <p:cNvSpPr/>
          <p:nvPr/>
        </p:nvSpPr>
        <p:spPr>
          <a:xfrm>
            <a:off x="457200" y="1645920"/>
            <a:ext cx="5486400" cy="365760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Bar1"/>
          <p:cNvSpPr/>
          <p:nvPr/>
        </p:nvSpPr>
        <p:spPr>
          <a:xfrm>
            <a:off x="457200" y="1645920"/>
            <a:ext cx="54864" cy="36576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P1"/>
          <p:cNvSpPr/>
          <p:nvPr/>
        </p:nvSpPr>
        <p:spPr>
          <a:xfrm>
            <a:off x="640080" y="1737360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</a:rPr>
              <a:t>Anna Meier</a:t>
            </a:r>
          </a:p>
          <a:p>
            <a:pPr marL="0" indent="0">
              <a:lnSpc>
                <a:spcPts val="2800"/>
              </a:lnSpc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</a:rPr>
              <a:t>Sustainability Manager</a:t>
            </a:r>
          </a:p>
          <a:p>
            <a:pPr marL="0" indent="0">
              <a:lnSpc>
                <a:spcPts val="2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</a:rPr>
              <a:t>Goal: Monitor CO₂ budgets across all BUs and report to leadership monthly.</a:t>
            </a:r>
          </a:p>
          <a:p>
            <a:pPr marL="0" indent="0">
              <a:lnSpc>
                <a:spcPts val="2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</a:rPr>
              <a:t>Pain: Data scattered across Excel files, no live overview of compliance.</a:t>
            </a:r>
          </a:p>
          <a:p>
            <a:pPr marL="0" indent="0">
              <a:lnSpc>
                <a:spcPts val="28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</a:rPr>
              <a:t>Dashboard value: Real-time gauges + budget status at a glance.</a:t>
            </a:r>
          </a:p>
        </p:txBody>
      </p:sp>
      <p:sp>
        <p:nvSpPr>
          <p:cNvPr id="7" name="Card2"/>
          <p:cNvSpPr/>
          <p:nvPr/>
        </p:nvSpPr>
        <p:spPr>
          <a:xfrm>
            <a:off x="6217920" y="1645920"/>
            <a:ext cx="5486400" cy="365760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Bar2"/>
          <p:cNvSpPr/>
          <p:nvPr/>
        </p:nvSpPr>
        <p:spPr>
          <a:xfrm>
            <a:off x="6217920" y="1645920"/>
            <a:ext cx="54864" cy="36576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P2"/>
          <p:cNvSpPr/>
          <p:nvPr/>
        </p:nvSpPr>
        <p:spPr>
          <a:xfrm>
            <a:off x="6400800" y="1737360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</a:rPr>
              <a:t>Daniel Schmid</a:t>
            </a:r>
          </a:p>
          <a:p>
            <a:pPr marL="0" indent="0">
              <a:lnSpc>
                <a:spcPts val="2800"/>
              </a:lnSpc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</a:rPr>
              <a:t>Travel Manager</a:t>
            </a:r>
          </a:p>
          <a:p>
            <a:pPr marL="0" indent="0">
              <a:lnSpc>
                <a:spcPts val="2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</a:rPr>
              <a:t>Goal: Approve upcoming trips while staying within CO₂ and cost limits.</a:t>
            </a:r>
          </a:p>
          <a:p>
            <a:pPr marL="0" indent="0">
              <a:lnSpc>
                <a:spcPts val="2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</a:rPr>
              <a:t>Pain: No way to see if a planned flight has a viable train alternative.</a:t>
            </a:r>
          </a:p>
          <a:p>
            <a:pPr marL="0" indent="0">
              <a:lnSpc>
                <a:spcPts val="28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</a:rPr>
              <a:t>Dashboard value: Route deep-dive + one-click mode-shift alternatives.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—  WHAT THE DASHBOARD SHOWS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Sections, One View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214884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" cy="21488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7373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120640" y="16916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261872" y="17373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KPIs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58368" y="2331720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CO₂ vs. combined budget, utilisation %, reduction potential, and average kg per trip — at a glance.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09360" y="1554480"/>
            <a:ext cx="5486400" cy="214884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6309360" y="1554480"/>
            <a:ext cx="54864" cy="21488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173736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972800" y="16916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7114032" y="17373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Compliance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10528" y="2331720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Gauge dials and stacked bar chart showing each business unit's actual vs. optimised CO₂ against its annual budget.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57200" y="3977640"/>
            <a:ext cx="5486400" cy="214884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457200" y="3977640"/>
            <a:ext cx="54864" cy="21488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160520"/>
            <a:ext cx="457200" cy="4572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120640" y="41148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5"/>
          <p:cNvSpPr/>
          <p:nvPr/>
        </p:nvSpPr>
        <p:spPr>
          <a:xfrm>
            <a:off x="1261872" y="41605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Map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658368" y="4754880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connection map with route lines scaled by CO₂. Filter by region; hover for per-route details.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6309360" y="3977640"/>
            <a:ext cx="5486400" cy="214884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8"/>
          <p:cNvSpPr/>
          <p:nvPr/>
        </p:nvSpPr>
        <p:spPr>
          <a:xfrm>
            <a:off x="6309360" y="3977640"/>
            <a:ext cx="54864" cy="21488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0528" y="4160520"/>
            <a:ext cx="457200" cy="4572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972800" y="41148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0"/>
          <p:cNvSpPr/>
          <p:nvPr/>
        </p:nvSpPr>
        <p:spPr>
          <a:xfrm>
            <a:off x="7114032" y="41605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Levers</a:t>
            </a:r>
            <a:endParaRPr lang="en-US" sz="1700" dirty="0"/>
          </a:p>
        </p:txBody>
      </p:sp>
      <p:sp>
        <p:nvSpPr>
          <p:cNvPr id="27" name="Text 21"/>
          <p:cNvSpPr/>
          <p:nvPr/>
        </p:nvSpPr>
        <p:spPr>
          <a:xfrm>
            <a:off x="6510528" y="4754880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table of flights with greener alternatives, route deep-dive with CO₂ and travel-time comparison, and one-click 'Apply alternatives' scenario.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—  Workflow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Flights to Trains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06040" cy="2697480"/>
          </a:xfrm>
          <a:prstGeom prst="rect">
            <a:avLst/>
          </a:prstGeom>
          <a:solidFill>
            <a:srgbClr val="192535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463040" y="1691640"/>
            <a:ext cx="594360" cy="59436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463040" y="16916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760" y="1950360"/>
            <a:ext cx="50292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99032" y="2598831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272760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flight is checked against historical route data for lower-CO₂ alternatives.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46120" y="1463040"/>
            <a:ext cx="2606040" cy="2697480"/>
          </a:xfrm>
          <a:prstGeom prst="rect">
            <a:avLst/>
          </a:prstGeom>
          <a:solidFill>
            <a:srgbClr val="192535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4251960" y="1691640"/>
            <a:ext cx="594360" cy="594360"/>
          </a:xfrm>
          <a:prstGeom prst="lin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4251960" y="16916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59" y="1956816"/>
            <a:ext cx="502920" cy="5029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003731" y="2651760"/>
            <a:ext cx="104432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528062" y="2671808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deep-dive shows CO₂ and travel time across all modes side by side.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35040" y="1463040"/>
            <a:ext cx="2606040" cy="2697480"/>
          </a:xfrm>
          <a:prstGeom prst="rect">
            <a:avLst/>
          </a:prstGeom>
          <a:solidFill>
            <a:srgbClr val="192535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7040880" y="1691640"/>
            <a:ext cx="594360" cy="594360"/>
          </a:xfrm>
          <a:prstGeom prst="lin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0" y="2068504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961634" y="2743629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6339842" y="2710114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applies all alternatives. KPIs and gauges update instantly.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8823960" y="1463040"/>
            <a:ext cx="2606040" cy="2697480"/>
          </a:xfrm>
          <a:prstGeom prst="rect">
            <a:avLst/>
          </a:prstGeom>
          <a:solidFill>
            <a:srgbClr val="192535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8"/>
          <p:cNvSpPr/>
          <p:nvPr/>
        </p:nvSpPr>
        <p:spPr>
          <a:xfrm>
            <a:off x="9829800" y="1691640"/>
            <a:ext cx="594360" cy="594360"/>
          </a:xfrm>
          <a:prstGeom prst="line">
            <a:avLst/>
          </a:prstGeom>
          <a:solidFill>
            <a:srgbClr val="DB27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0758" y="2168183"/>
            <a:ext cx="502920" cy="5029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753598" y="282522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9131806" y="2762543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an Excel travel plan with recommended modes for each trip.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3017520" y="2651760"/>
            <a:ext cx="164592" cy="16459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Shape 23"/>
          <p:cNvSpPr/>
          <p:nvPr/>
        </p:nvSpPr>
        <p:spPr>
          <a:xfrm>
            <a:off x="5806440" y="2651760"/>
            <a:ext cx="164592" cy="16459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4"/>
          <p:cNvSpPr/>
          <p:nvPr/>
        </p:nvSpPr>
        <p:spPr>
          <a:xfrm>
            <a:off x="8595360" y="2651760"/>
            <a:ext cx="164592" cy="16459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5"/>
          <p:cNvSpPr/>
          <p:nvPr/>
        </p:nvSpPr>
        <p:spPr>
          <a:xfrm>
            <a:off x="457200" y="443484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Saving Routes (example)</a:t>
            </a:r>
            <a:endParaRPr lang="en-US" sz="14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892040"/>
          <a:ext cx="11247120" cy="1554480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Flights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 (t)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ZRH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ZRH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ZRH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LJU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ZRH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ZRH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—  BUDGET COMPLIANCE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Numbers Instantly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2606040" cy="150876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2606040" cy="6400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1664208"/>
            <a:ext cx="2606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847 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57860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+12% vs budget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508760"/>
            <a:ext cx="2606040" cy="150876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3246120" y="1508760"/>
            <a:ext cx="2606040" cy="6400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246120" y="1664208"/>
            <a:ext cx="2606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246120" y="228600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Used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46120" y="257860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BUs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508760"/>
            <a:ext cx="2606040" cy="150876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6035040" y="1508760"/>
            <a:ext cx="2606040" cy="6400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6035040" y="1664208"/>
            <a:ext cx="2606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−143 t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035040" y="228600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 Potential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035040" y="257860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mode shift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823960" y="1508760"/>
            <a:ext cx="2606040" cy="150876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8823960" y="1508760"/>
            <a:ext cx="2606040" cy="6400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23960" y="1664208"/>
            <a:ext cx="2606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1,118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8823960" y="228600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Trips Analysed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23960" y="257860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758 kg/trip</a:t>
            </a:r>
            <a:endParaRPr lang="en-US" sz="1000" dirty="0"/>
          </a:p>
        </p:txBody>
      </p:sp>
      <p:sp>
        <p:nvSpPr>
          <p:cNvPr id="100" name="GaugeBg_BU1"/>
          <p:cNvSpPr/>
          <p:nvPr/>
        </p:nvSpPr>
        <p:spPr>
          <a:xfrm>
            <a:off x="882396" y="3276120"/>
            <a:ext cx="1984247" cy="1984247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2A3A4A"/>
          </a:solidFill>
          <a:ln w="180000">
            <a:solidFill>
              <a:srgbClr val="2A3A4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1" name="GaugeFg_BU1"/>
          <p:cNvSpPr/>
          <p:nvPr/>
        </p:nvSpPr>
        <p:spPr>
          <a:xfrm>
            <a:off x="882396" y="3276120"/>
            <a:ext cx="1984247" cy="1984247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EF4444"/>
          </a:solidFill>
          <a:ln w="180000">
            <a:solidFill>
              <a:srgbClr val="EF4444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2" name="GaugeHole_BU1"/>
          <p:cNvSpPr/>
          <p:nvPr/>
        </p:nvSpPr>
        <p:spPr>
          <a:xfrm>
            <a:off x="1299088" y="3692812"/>
            <a:ext cx="1150863" cy="1150863"/>
          </a:xfrm>
          <a:prstGeom prst="ellipse">
            <a:avLst/>
          </a:prstGeom>
          <a:solidFill>
            <a:srgbClr val="0F1923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GaugeLabel_BU1"/>
          <p:cNvSpPr/>
          <p:nvPr/>
        </p:nvSpPr>
        <p:spPr>
          <a:xfrm>
            <a:off x="457200" y="3772181"/>
            <a:ext cx="2834640" cy="4365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F4444"/>
                </a:solidFill>
                <a:latin typeface="Calibri" pitchFamily="34" charset="0"/>
              </a:rPr>
              <a:t>106%</a:t>
            </a:r>
          </a:p>
        </p:txBody>
      </p:sp>
      <p:sp>
        <p:nvSpPr>
          <p:cNvPr id="104" name="GaugeName_BU1"/>
          <p:cNvSpPr/>
          <p:nvPr/>
        </p:nvSpPr>
        <p:spPr>
          <a:xfrm>
            <a:off x="457200" y="4208716"/>
            <a:ext cx="2834640" cy="357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</a:rPr>
              <a:t>BU1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</a:rPr>
              <a:t>  190 t / 180 t</a:t>
            </a:r>
          </a:p>
        </p:txBody>
      </p:sp>
      <p:sp>
        <p:nvSpPr>
          <p:cNvPr id="105" name="GaugeStatus_BU1"/>
          <p:cNvSpPr/>
          <p:nvPr/>
        </p:nvSpPr>
        <p:spPr>
          <a:xfrm>
            <a:off x="465704" y="4466667"/>
            <a:ext cx="2834640" cy="3174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</a:rPr>
              <a:t>▲ 10 t over</a:t>
            </a:r>
          </a:p>
        </p:txBody>
      </p:sp>
      <p:sp>
        <p:nvSpPr>
          <p:cNvPr id="106" name="GaugeBg_BU2"/>
          <p:cNvSpPr/>
          <p:nvPr/>
        </p:nvSpPr>
        <p:spPr>
          <a:xfrm>
            <a:off x="3717036" y="3276120"/>
            <a:ext cx="1984247" cy="1984247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2A3A4A"/>
          </a:solidFill>
          <a:ln w="180000">
            <a:solidFill>
              <a:srgbClr val="2A3A4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7" name="GaugeFg_BU2"/>
          <p:cNvSpPr/>
          <p:nvPr/>
        </p:nvSpPr>
        <p:spPr>
          <a:xfrm>
            <a:off x="3717036" y="3276120"/>
            <a:ext cx="1984247" cy="1984247"/>
          </a:xfrm>
          <a:prstGeom prst="arc">
            <a:avLst>
              <a:gd name="adj1" fmla="val 10800000"/>
              <a:gd name="adj2" fmla="val 18900000"/>
            </a:avLst>
          </a:prstGeom>
          <a:solidFill>
            <a:srgbClr val="10B981"/>
          </a:solidFill>
          <a:ln w="180000">
            <a:solidFill>
              <a:srgbClr val="10B98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8" name="GaugeHole_BU2"/>
          <p:cNvSpPr/>
          <p:nvPr/>
        </p:nvSpPr>
        <p:spPr>
          <a:xfrm>
            <a:off x="4133728" y="3692812"/>
            <a:ext cx="1150863" cy="1150863"/>
          </a:xfrm>
          <a:prstGeom prst="ellipse">
            <a:avLst/>
          </a:prstGeom>
          <a:solidFill>
            <a:srgbClr val="0F1923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09" name="GaugeLabel_BU2"/>
          <p:cNvSpPr/>
          <p:nvPr/>
        </p:nvSpPr>
        <p:spPr>
          <a:xfrm>
            <a:off x="3291840" y="3772181"/>
            <a:ext cx="2834640" cy="4365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</a:rPr>
              <a:t>75%</a:t>
            </a:r>
          </a:p>
        </p:txBody>
      </p:sp>
      <p:sp>
        <p:nvSpPr>
          <p:cNvPr id="110" name="GaugeName_BU2"/>
          <p:cNvSpPr/>
          <p:nvPr/>
        </p:nvSpPr>
        <p:spPr>
          <a:xfrm>
            <a:off x="3291840" y="4208716"/>
            <a:ext cx="2834640" cy="357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</a:rPr>
              <a:t>BU2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</a:rPr>
              <a:t>  150 t / 200 t</a:t>
            </a:r>
          </a:p>
        </p:txBody>
      </p:sp>
      <p:sp>
        <p:nvSpPr>
          <p:cNvPr id="111" name="GaugeStatus_BU2"/>
          <p:cNvSpPr/>
          <p:nvPr/>
        </p:nvSpPr>
        <p:spPr>
          <a:xfrm>
            <a:off x="3332988" y="4499312"/>
            <a:ext cx="2834640" cy="3174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</a:rPr>
              <a:t>✓ 50 t left</a:t>
            </a:r>
          </a:p>
        </p:txBody>
      </p:sp>
      <p:sp>
        <p:nvSpPr>
          <p:cNvPr id="112" name="GaugeBg_BU3"/>
          <p:cNvSpPr/>
          <p:nvPr/>
        </p:nvSpPr>
        <p:spPr>
          <a:xfrm>
            <a:off x="882396" y="4876320"/>
            <a:ext cx="1984247" cy="1984247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2A3A4A"/>
          </a:solidFill>
          <a:ln w="180000">
            <a:solidFill>
              <a:srgbClr val="2A3A4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3" name="GaugeFg_BU3"/>
          <p:cNvSpPr/>
          <p:nvPr/>
        </p:nvSpPr>
        <p:spPr>
          <a:xfrm>
            <a:off x="882396" y="4876320"/>
            <a:ext cx="1984247" cy="1984247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EF4444"/>
          </a:solidFill>
          <a:ln w="180000">
            <a:solidFill>
              <a:srgbClr val="EF4444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4" name="GaugeHole_BU3"/>
          <p:cNvSpPr/>
          <p:nvPr/>
        </p:nvSpPr>
        <p:spPr>
          <a:xfrm>
            <a:off x="1299088" y="5293012"/>
            <a:ext cx="1150863" cy="1150863"/>
          </a:xfrm>
          <a:prstGeom prst="ellipse">
            <a:avLst/>
          </a:prstGeom>
          <a:solidFill>
            <a:srgbClr val="0F1923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" name="GaugeLabel_BU3"/>
          <p:cNvSpPr/>
          <p:nvPr/>
        </p:nvSpPr>
        <p:spPr>
          <a:xfrm>
            <a:off x="457200" y="5372381"/>
            <a:ext cx="2834640" cy="4365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F4444"/>
                </a:solidFill>
                <a:latin typeface="Calibri" pitchFamily="34" charset="0"/>
              </a:rPr>
              <a:t>142%</a:t>
            </a:r>
          </a:p>
        </p:txBody>
      </p:sp>
      <p:sp>
        <p:nvSpPr>
          <p:cNvPr id="116" name="GaugeName_BU3"/>
          <p:cNvSpPr/>
          <p:nvPr/>
        </p:nvSpPr>
        <p:spPr>
          <a:xfrm>
            <a:off x="457200" y="5808916"/>
            <a:ext cx="2834640" cy="357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</a:rPr>
              <a:t>BU3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</a:rPr>
              <a:t>  249 t / 175 t</a:t>
            </a:r>
          </a:p>
        </p:txBody>
      </p:sp>
      <p:sp>
        <p:nvSpPr>
          <p:cNvPr id="117" name="GaugeStatus_BU3"/>
          <p:cNvSpPr/>
          <p:nvPr/>
        </p:nvSpPr>
        <p:spPr>
          <a:xfrm>
            <a:off x="457200" y="6166080"/>
            <a:ext cx="2834640" cy="3174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</a:rPr>
              <a:t>▲ 74 t over</a:t>
            </a:r>
          </a:p>
        </p:txBody>
      </p:sp>
      <p:sp>
        <p:nvSpPr>
          <p:cNvPr id="118" name="GaugeBg_BU4"/>
          <p:cNvSpPr/>
          <p:nvPr/>
        </p:nvSpPr>
        <p:spPr>
          <a:xfrm>
            <a:off x="3717036" y="4876320"/>
            <a:ext cx="1984247" cy="1984247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2A3A4A"/>
          </a:solidFill>
          <a:ln w="180000">
            <a:solidFill>
              <a:srgbClr val="2A3A4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9" name="GaugeFg_BU4"/>
          <p:cNvSpPr/>
          <p:nvPr/>
        </p:nvSpPr>
        <p:spPr>
          <a:xfrm>
            <a:off x="3717036" y="4876320"/>
            <a:ext cx="1984247" cy="1984247"/>
          </a:xfrm>
          <a:prstGeom prst="arc">
            <a:avLst>
              <a:gd name="adj1" fmla="val 10800000"/>
              <a:gd name="adj2" fmla="val 21372631"/>
            </a:avLst>
          </a:prstGeom>
          <a:solidFill>
            <a:srgbClr val="F59E0B"/>
          </a:solidFill>
          <a:ln w="180000">
            <a:solidFill>
              <a:srgbClr val="F59E0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0" name="GaugeHole_BU4"/>
          <p:cNvSpPr/>
          <p:nvPr/>
        </p:nvSpPr>
        <p:spPr>
          <a:xfrm>
            <a:off x="4133728" y="5293012"/>
            <a:ext cx="1150863" cy="1150863"/>
          </a:xfrm>
          <a:prstGeom prst="ellipse">
            <a:avLst/>
          </a:prstGeom>
          <a:solidFill>
            <a:srgbClr val="0F1923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21" name="GaugeLabel_BU4"/>
          <p:cNvSpPr/>
          <p:nvPr/>
        </p:nvSpPr>
        <p:spPr>
          <a:xfrm>
            <a:off x="3291840" y="5372381"/>
            <a:ext cx="2834640" cy="4365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</a:rPr>
              <a:t>98%</a:t>
            </a:r>
          </a:p>
        </p:txBody>
      </p:sp>
      <p:sp>
        <p:nvSpPr>
          <p:cNvPr id="122" name="GaugeName_BU4"/>
          <p:cNvSpPr/>
          <p:nvPr/>
        </p:nvSpPr>
        <p:spPr>
          <a:xfrm>
            <a:off x="3291840" y="5808916"/>
            <a:ext cx="2834640" cy="357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B2777"/>
                </a:solidFill>
                <a:latin typeface="Calibri" pitchFamily="34" charset="0"/>
              </a:rPr>
              <a:t>BU4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</a:rPr>
              <a:t>  186 t / 190 t</a:t>
            </a:r>
          </a:p>
        </p:txBody>
      </p:sp>
      <p:sp>
        <p:nvSpPr>
          <p:cNvPr id="123" name="GaugeStatus_BU4"/>
          <p:cNvSpPr/>
          <p:nvPr/>
        </p:nvSpPr>
        <p:spPr>
          <a:xfrm>
            <a:off x="3291840" y="6166080"/>
            <a:ext cx="2834640" cy="3174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</a:rPr>
              <a:t>~ 4 t left</a:t>
            </a:r>
          </a:p>
        </p:txBody>
      </p:sp>
      <p:sp>
        <p:nvSpPr>
          <p:cNvPr id="25" name="Text 22"/>
          <p:cNvSpPr/>
          <p:nvPr/>
        </p:nvSpPr>
        <p:spPr>
          <a:xfrm>
            <a:off x="6492240" y="32461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Snapshot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492240" y="3794760"/>
            <a:ext cx="5212080" cy="566928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4"/>
          <p:cNvSpPr/>
          <p:nvPr/>
        </p:nvSpPr>
        <p:spPr>
          <a:xfrm>
            <a:off x="6492240" y="3794760"/>
            <a:ext cx="54864" cy="56692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6629400" y="3867912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BU1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7269480" y="38862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190 t  ·  Optimised: 162 t  ·  Budget: 180 t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9509760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10 t over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492240" y="4453128"/>
            <a:ext cx="5212080" cy="566928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Shape 29"/>
          <p:cNvSpPr/>
          <p:nvPr/>
        </p:nvSpPr>
        <p:spPr>
          <a:xfrm>
            <a:off x="6492240" y="4453128"/>
            <a:ext cx="54864" cy="56692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0"/>
          <p:cNvSpPr/>
          <p:nvPr/>
        </p:nvSpPr>
        <p:spPr>
          <a:xfrm>
            <a:off x="6629400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BU2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7269480" y="45445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150 t  ·  Optimised: 134 t  ·  Budget: 200 t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9509760" y="4544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50 t left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492240" y="5111496"/>
            <a:ext cx="5212080" cy="566928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7" name="Shape 34"/>
          <p:cNvSpPr/>
          <p:nvPr/>
        </p:nvSpPr>
        <p:spPr>
          <a:xfrm>
            <a:off x="6492240" y="5111496"/>
            <a:ext cx="54864" cy="56692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5"/>
          <p:cNvSpPr/>
          <p:nvPr/>
        </p:nvSpPr>
        <p:spPr>
          <a:xfrm>
            <a:off x="6629400" y="518464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BU3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7269480" y="520293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249 t  ·  Optimised: 198 t  ·  Budget: 175 t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509760" y="520293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74 t over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492240" y="5769864"/>
            <a:ext cx="5212080" cy="566928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Shape 39"/>
          <p:cNvSpPr/>
          <p:nvPr/>
        </p:nvSpPr>
        <p:spPr>
          <a:xfrm>
            <a:off x="6492240" y="5769864"/>
            <a:ext cx="54864" cy="56692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40"/>
          <p:cNvSpPr/>
          <p:nvPr/>
        </p:nvSpPr>
        <p:spPr>
          <a:xfrm>
            <a:off x="6629400" y="584301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BU4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7269480" y="58613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186 t  ·  Optimised: 168 t  ·  Budget: 190 t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9509760" y="586130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4 t left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Design Rationale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</a:rPr>
              <a:t>05  —  DESIGN </a:t>
            </a:r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</a:rPr>
              <a:t>Why These Visual Choices?</a:t>
            </a:r>
          </a:p>
        </p:txBody>
      </p:sp>
      <p:sp>
        <p:nvSpPr>
          <p:cNvPr id="4" name="Card1"/>
          <p:cNvSpPr/>
          <p:nvPr/>
        </p:nvSpPr>
        <p:spPr>
          <a:xfrm>
            <a:off x="457200" y="1645920"/>
            <a:ext cx="2651760" cy="365760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Bar1"/>
          <p:cNvSpPr/>
          <p:nvPr/>
        </p:nvSpPr>
        <p:spPr>
          <a:xfrm>
            <a:off x="457200" y="1645920"/>
            <a:ext cx="54864" cy="365760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C1"/>
          <p:cNvSpPr/>
          <p:nvPr/>
        </p:nvSpPr>
        <p:spPr>
          <a:xfrm>
            <a:off x="640080" y="1737360"/>
            <a:ext cx="23774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</a:rPr>
              <a:t>Gauges</a:t>
            </a:r>
          </a:p>
          <a:p>
            <a:pPr marL="0" indent="0">
              <a:lnSpc>
                <a:spcPts val="24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</a:rPr>
              <a:t>Encode status (under / approaching / over) at a glance, no numbers needed to detect overruns.</a:t>
            </a:r>
          </a:p>
          <a:p>
            <a:pPr marL="0" indent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</a:rPr>
              <a:t>Red = over budget</a:t>
            </a:r>
          </a:p>
          <a:p>
            <a:pPr marL="0" indent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</a:rPr>
              <a:t>Amber = approaching</a:t>
            </a:r>
          </a:p>
          <a:p>
            <a:pPr marL="0" indent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</a:rPr>
              <a:t>Green = on track</a:t>
            </a:r>
          </a:p>
        </p:txBody>
      </p:sp>
      <p:sp>
        <p:nvSpPr>
          <p:cNvPr id="7" name="Card2"/>
          <p:cNvSpPr/>
          <p:nvPr/>
        </p:nvSpPr>
        <p:spPr>
          <a:xfrm>
            <a:off x="3383280" y="1645920"/>
            <a:ext cx="2651760" cy="365760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Bar2"/>
          <p:cNvSpPr/>
          <p:nvPr/>
        </p:nvSpPr>
        <p:spPr>
          <a:xfrm>
            <a:off x="3383280" y="1645920"/>
            <a:ext cx="54864" cy="36576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C2"/>
          <p:cNvSpPr/>
          <p:nvPr/>
        </p:nvSpPr>
        <p:spPr>
          <a:xfrm>
            <a:off x="3566160" y="1737360"/>
            <a:ext cx="23774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</a:rPr>
              <a:t>Connection Map</a:t>
            </a:r>
          </a:p>
          <a:p>
            <a:pPr marL="0" indent="0">
              <a:lnSpc>
                <a:spcPts val="24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</a:rPr>
              <a:t>Shows geographic concentration of emissions. Line thickness = CO₂ volume. Color = transport mode.</a:t>
            </a:r>
          </a:p>
          <a:p>
            <a:pPr marL="0" indent="0">
              <a:lnSpc>
                <a:spcPts val="24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</a:rPr>
              <a:t>Answers: Where do we fly most? Which routes drive the most CO₂?</a:t>
            </a:r>
          </a:p>
        </p:txBody>
      </p:sp>
      <p:sp>
        <p:nvSpPr>
          <p:cNvPr id="10" name="Card3"/>
          <p:cNvSpPr/>
          <p:nvPr/>
        </p:nvSpPr>
        <p:spPr>
          <a:xfrm>
            <a:off x="6309360" y="1645920"/>
            <a:ext cx="2651760" cy="365760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Bar3"/>
          <p:cNvSpPr/>
          <p:nvPr/>
        </p:nvSpPr>
        <p:spPr>
          <a:xfrm>
            <a:off x="6309360" y="1645920"/>
            <a:ext cx="54864" cy="36576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C3"/>
          <p:cNvSpPr/>
          <p:nvPr/>
        </p:nvSpPr>
        <p:spPr>
          <a:xfrm>
            <a:off x="6492240" y="1737360"/>
            <a:ext cx="23774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</a:rPr>
              <a:t>Ranked Table</a:t>
            </a:r>
          </a:p>
          <a:p>
            <a:pPr marL="0" indent="0">
              <a:lnSpc>
                <a:spcPts val="24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</a:rPr>
              <a:t>Prioritises action: highest saving potential shown first. One row = one decision a manager can act on today.</a:t>
            </a:r>
          </a:p>
          <a:p>
            <a:pPr marL="0" indent="0">
              <a:lnSpc>
                <a:spcPts val="24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</a:rPr>
              <a:t>Consistent BU color palette carried across all charts for zero re-learning.</a:t>
            </a:r>
          </a:p>
          <a:p>
            <a:pPr marL="0" indent="0">
              <a:lnSpc>
                <a:spcPts val="2400"/>
              </a:lnSpc>
              <a:buNone/>
            </a:pPr>
            <a:endParaRPr lang="en-US" sz="1200" dirty="0">
              <a:solidFill>
                <a:srgbClr val="E2E8F0"/>
              </a:solidFill>
              <a:latin typeface="Calibri" pitchFamily="34" charset="0"/>
            </a:endParaRPr>
          </a:p>
          <a:p>
            <a:pPr marL="0" indent="0">
              <a:lnSpc>
                <a:spcPts val="2400"/>
              </a:lnSpc>
              <a:buNone/>
            </a:pPr>
            <a:endParaRPr lang="en-US" sz="1200" dirty="0">
              <a:solidFill>
                <a:srgbClr val="E2E8F0"/>
              </a:solidFill>
              <a:latin typeface="Calibri" pitchFamily="34" charset="0"/>
            </a:endParaRPr>
          </a:p>
        </p:txBody>
      </p:sp>
      <p:sp>
        <p:nvSpPr>
          <p:cNvPr id="13" name="Card4"/>
          <p:cNvSpPr/>
          <p:nvPr/>
        </p:nvSpPr>
        <p:spPr>
          <a:xfrm>
            <a:off x="9235440" y="1645920"/>
            <a:ext cx="2194560" cy="365760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Bar4"/>
          <p:cNvSpPr/>
          <p:nvPr/>
        </p:nvSpPr>
        <p:spPr>
          <a:xfrm>
            <a:off x="9235440" y="1645920"/>
            <a:ext cx="54864" cy="36576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C4"/>
          <p:cNvSpPr/>
          <p:nvPr/>
        </p:nvSpPr>
        <p:spPr>
          <a:xfrm>
            <a:off x="9418320" y="1737360"/>
            <a:ext cx="19202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</a:rPr>
              <a:t>Narrative Flow</a:t>
            </a:r>
          </a:p>
          <a:p>
            <a:pPr marL="0" indent="0">
              <a:lnSpc>
                <a:spcPts val="24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</a:rPr>
              <a:t>Overview → BU detail → Geography → Action. Each section answers one question before handing off to the next.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—  HOW TO USE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 in 3 Steps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943600" cy="137160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54864" cy="13716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594360" cy="59436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417320" y="17373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Historical Reference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7320" y="2167128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file with a travel_data sheet (routes, CO₂, modes) and a budget_2026 sheet mapping BU budgets in tonnes.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154680"/>
            <a:ext cx="5943600" cy="137160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57200" y="3154680"/>
            <a:ext cx="54864" cy="13716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40080" y="3520440"/>
            <a:ext cx="594360" cy="594360"/>
          </a:xfrm>
          <a:prstGeom prst="lin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417320" y="3291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Planned Trips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17320" y="3721608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with upcoming trips. Without it, the dashboard analyses the historical data itself, useful for retrospective reviews.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709160"/>
            <a:ext cx="5943600" cy="137160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57200" y="4709160"/>
            <a:ext cx="54864" cy="13716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40080" y="5074920"/>
            <a:ext cx="594360" cy="594360"/>
          </a:xfrm>
          <a:prstGeom prst="lin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1417320" y="48463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CO₂ Metric &amp; Explore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417320" y="5276088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between RFI 2 or RFI 2.7 accounting. All charts, gauges and saving calculations update live.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6656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Excel Schema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766560" y="2057400"/>
            <a:ext cx="4937760" cy="2103120"/>
          </a:xfrm>
          <a:prstGeom prst="rect">
            <a:avLst/>
          </a:prstGeom>
          <a:solidFill>
            <a:srgbClr val="192535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949440" y="21488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travel_data sheet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949440" y="2542032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transport_mode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49440" y="276148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departure_iata / arrival_iata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949440" y="2980944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departure_lat/lon / arrival_lat/lon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49440" y="320040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business_unit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49440" y="3419856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CO2e RFI2 (t) or RFI2.7 (t)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949440" y="3639312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 ·  cost_CHF  ·  date  (optional)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766560" y="4297680"/>
            <a:ext cx="4937760" cy="1005840"/>
          </a:xfrm>
          <a:prstGeom prst="rect">
            <a:avLst/>
          </a:prstGeom>
          <a:solidFill>
            <a:srgbClr val="192535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949440" y="4389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budget_2026 sheet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949440" y="4791456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Unit  (BU1, BU2, …)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49440" y="5010912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2026  (column name must contain '2026')</a:t>
            </a:r>
            <a:endParaRPr lang="en-US" sz="1100" dirty="0"/>
          </a:p>
        </p:txBody>
      </p:sp>
      <p:pic>
        <p:nvPicPr>
          <p:cNvPr id="3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532120"/>
            <a:ext cx="320040" cy="320040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7269480" y="54864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sidebar to switch CO₂ metric at any time, no reload needed.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0"/>
            <a:ext cx="5029200" cy="6858000"/>
          </a:xfrm>
          <a:prstGeom prst="rect">
            <a:avLst/>
          </a:prstGeom>
          <a:solidFill>
            <a:srgbClr val="0D9488">
              <a:alpha val="90000"/>
            </a:srgbClr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7498080" y="365760"/>
            <a:ext cx="42062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657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—  TAKEAWAYS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57200" y="822960"/>
            <a:ext cx="64008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Reduce</a:t>
            </a:r>
            <a:endParaRPr lang="en-US" sz="4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Carbon</a:t>
            </a:r>
            <a:endParaRPr lang="en-US" sz="4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Footprint?</a:t>
            </a:r>
            <a:endParaRPr lang="en-US" sz="42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319272"/>
            <a:ext cx="320040" cy="3200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3291840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budget compliance across all BUs</a:t>
            </a:r>
            <a:endParaRPr lang="en-US" sz="13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31336"/>
            <a:ext cx="320040" cy="32004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14400" y="3803904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detection of mode-shift opportunities</a:t>
            </a:r>
            <a:endParaRPr lang="en-US" sz="13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43400"/>
            <a:ext cx="320040" cy="32004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14400" y="4315968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maps and route deep-dives</a:t>
            </a:r>
            <a:endParaRPr lang="en-US" sz="13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855464"/>
            <a:ext cx="320040" cy="32004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914400" y="4828032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export with per-trip recommendations</a:t>
            </a:r>
            <a:endParaRPr lang="en-US" sz="1300" dirty="0"/>
          </a:p>
        </p:txBody>
      </p:sp>
      <p:sp>
        <p:nvSpPr>
          <p:cNvPr id="15" name="Text 7"/>
          <p:cNvSpPr/>
          <p:nvPr/>
        </p:nvSpPr>
        <p:spPr>
          <a:xfrm>
            <a:off x="914400" y="5340096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6" name="Text 8"/>
          <p:cNvSpPr/>
          <p:nvPr/>
        </p:nvSpPr>
        <p:spPr>
          <a:xfrm>
            <a:off x="7498080" y="502920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Started</a:t>
            </a:r>
            <a:endParaRPr lang="en-US" sz="2800" dirty="0"/>
          </a:p>
        </p:txBody>
      </p:sp>
      <p:sp>
        <p:nvSpPr>
          <p:cNvPr id="17" name="Text 9"/>
          <p:cNvSpPr/>
          <p:nvPr/>
        </p:nvSpPr>
        <p:spPr>
          <a:xfrm>
            <a:off x="7680960" y="5669280"/>
            <a:ext cx="3840480" cy="457200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hlinkClick r:id="rId5"/>
              </a:rPr>
              <a:t>Here</a:t>
            </a:r>
            <a:endParaRPr lang="en-US" sz="1400" dirty="0"/>
          </a:p>
        </p:txBody>
      </p:sp>
      <p:sp>
        <p:nvSpPr>
          <p:cNvPr id="18" name="Text 10"/>
          <p:cNvSpPr/>
          <p:nvPr/>
        </p:nvSpPr>
        <p:spPr>
          <a:xfrm>
            <a:off x="0" y="6492240"/>
            <a:ext cx="1216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Streamlit  ·  Plotly  ·  Python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1052</Words>
  <Application>Microsoft Macintosh PowerPoint</Application>
  <PresentationFormat>Breitbild</PresentationFormat>
  <Paragraphs>201</Paragraphs>
  <Slides>10</Slides>
  <Notes>8</Notes>
  <HiddenSlides>2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4" baseType="lpstr">
      <vt:lpstr>Arial</vt:lpstr>
      <vt:lpstr>Calibri</vt:lpstr>
      <vt:lpstr>Wingdings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Travel CO2 Dashboard</dc:title>
  <dc:subject>PptxGenJS Presentation</dc:subject>
  <dc:creator>Sustainability Team</dc:creator>
  <cp:lastModifiedBy>Filippone Dario (filipda1)</cp:lastModifiedBy>
  <cp:revision>6</cp:revision>
  <dcterms:created xsi:type="dcterms:W3CDTF">2026-05-05T10:08:59Z</dcterms:created>
  <dcterms:modified xsi:type="dcterms:W3CDTF">2026-06-04T12:44:19Z</dcterms:modified>
</cp:coreProperties>
</file>