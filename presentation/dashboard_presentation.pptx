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29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69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3657600" cy="68580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75520" y="0"/>
            <a:ext cx="2286000" cy="6858000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389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FS26 - ADLS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502920" y="2331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Dashboard</a:t>
            </a:r>
            <a:endParaRPr lang="en-US" sz="6200" dirty="0"/>
          </a:p>
        </p:txBody>
      </p:sp>
      <p:sp>
        <p:nvSpPr>
          <p:cNvPr id="9" name="Text 6"/>
          <p:cNvSpPr/>
          <p:nvPr/>
        </p:nvSpPr>
        <p:spPr>
          <a:xfrm>
            <a:off x="502920" y="35204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decision support for travel and sustainability managers.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budget compliance · Identify reduction levers · Plan smarter trips.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800600"/>
            <a:ext cx="2286000" cy="1005840"/>
          </a:xfrm>
          <a:prstGeom prst="rect">
            <a:avLst/>
          </a:prstGeom>
          <a:solidFill>
            <a:srgbClr val="1A2B3C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0292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02920" y="5321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63240" y="4800600"/>
            <a:ext cx="2286000" cy="1005840"/>
          </a:xfrm>
          <a:prstGeom prst="rect">
            <a:avLst/>
          </a:prstGeom>
          <a:solidFill>
            <a:srgbClr val="1A2B3C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06324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063240" y="5321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23560" y="4800600"/>
            <a:ext cx="2286000" cy="1005840"/>
          </a:xfrm>
          <a:prstGeom prst="rect">
            <a:avLst/>
          </a:prstGeom>
          <a:solidFill>
            <a:srgbClr val="1A2B3C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62356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623560" y="5321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Tracked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WHY THIS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travel is a significant but manageable source of emissions.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566160" cy="2651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4864" cy="2651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40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managers lack real-time CO₂ tracking across business units and routes.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057400"/>
            <a:ext cx="3566160" cy="2651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297680" y="2057400"/>
            <a:ext cx="54864" cy="2651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240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Drift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98848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dashboards, BU carbon budgets are exceeded before anyone notices.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2057400"/>
            <a:ext cx="3566160" cy="2651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138160" y="2057400"/>
            <a:ext cx="54864" cy="2651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22402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Savings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28346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short-haul flights could switch to train  but no tool surfaces these opportunities.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0D9488">
              <a:alpha val="18000"/>
            </a:srgbClr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457200" y="493776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1206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50292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puts budget compliance, geographic heatmaps, and mode-shift recommendations in one place — so every decision saves both money and carbon.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Personas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</a:rPr>
              <a:t>02  —  WHO USES IT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</a:rPr>
              <a:t>Two Personas, One Tool</a:t>
            </a:r>
          </a:p>
        </p:txBody>
      </p:sp>
      <p:sp>
        <p:nvSpPr>
          <p:cNvPr id="4" name="Card1"/>
          <p:cNvSpPr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Bar1"/>
          <p:cNvSpPr/>
          <p:nvPr/>
        </p:nvSpPr>
        <p:spPr>
          <a:xfrm>
            <a:off x="457200" y="1645920"/>
            <a:ext cx="54864" cy="3657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P1"/>
          <p:cNvSpPr/>
          <p:nvPr/>
        </p:nvSpPr>
        <p:spPr>
          <a:xfrm>
            <a:off x="640080" y="173736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Anna Meier</a:t>
            </a:r>
          </a:p>
          <a:p>
            <a:pPr marL="0" indent="0">
              <a:lnSpc>
                <a:spcPts val="28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</a:rPr>
              <a:t>Sustainability Manager</a:t>
            </a:r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Goal: Monitor CO₂ budgets across all BUs and report to leadership monthly.</a:t>
            </a:r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Pain: Data scattered across Excel files, no live overview of compliance.</a:t>
            </a:r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</a:rPr>
              <a:t>Dashboard value: Real-time gauges + budget status at a glance.</a:t>
            </a:r>
          </a:p>
        </p:txBody>
      </p:sp>
      <p:sp>
        <p:nvSpPr>
          <p:cNvPr id="7" name="Card2"/>
          <p:cNvSpPr/>
          <p:nvPr/>
        </p:nvSpPr>
        <p:spPr>
          <a:xfrm>
            <a:off x="6217920" y="1645920"/>
            <a:ext cx="5486400" cy="3657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Bar2"/>
          <p:cNvSpPr/>
          <p:nvPr/>
        </p:nvSpPr>
        <p:spPr>
          <a:xfrm>
            <a:off x="6217920" y="1645920"/>
            <a:ext cx="54864" cy="3657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P2"/>
          <p:cNvSpPr/>
          <p:nvPr/>
        </p:nvSpPr>
        <p:spPr>
          <a:xfrm>
            <a:off x="6400800" y="173736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Daniel Schmid</a:t>
            </a:r>
          </a:p>
          <a:p>
            <a:pPr marL="0" indent="0">
              <a:lnSpc>
                <a:spcPts val="28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</a:rPr>
              <a:t>Travel Manager</a:t>
            </a:r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Goal: Approve upcoming trips while staying within CO₂ and cost limits.</a:t>
            </a:r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Pain: No way to see if a planned flight has a viable train alternative.</a:t>
            </a:r>
          </a:p>
          <a:p>
            <a:pPr marL="0" indent="0">
              <a:lnSpc>
                <a:spcPts val="28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</a:rPr>
              <a:t>Dashboard value: Route deep-dive + one-click mode-shift alternatives.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WHAT THE DASHBOARD SHOWS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Sections, One View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14884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" cy="2148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61872" y="1737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KPIs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8368" y="23317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CO₂ vs. combined budget, utilisation %, reduction potential, and average kg per trip — at a glance.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486400" cy="214884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309360" y="1554480"/>
            <a:ext cx="54864" cy="21488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114032" y="1737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Compliance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10528" y="23317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dials and stacked bar chart showing each business unit's actual vs. optimised CO₂ against its annual budget.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3977640"/>
            <a:ext cx="5486400" cy="214884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457200" y="3977640"/>
            <a:ext cx="54864" cy="2148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160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4114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261872" y="4160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58368" y="475488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connection map with route lines scaled by CO₂. Filter by region; hover for per-route details.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09360" y="3977640"/>
            <a:ext cx="5486400" cy="214884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6309360" y="3977640"/>
            <a:ext cx="54864" cy="2148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1605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0" y="4114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114032" y="4160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Levers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10528" y="475488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table of flights with greener alternatives, route deep-dive with CO₂ and travel-time comparison, and one-click 'Apply alternatives' scenario.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BUDGET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Numbers Instantly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508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0604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 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vs budget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1508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0604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46120" y="16642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4612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1508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0604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035040" y="16642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−143 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3504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Potential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mode shift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23960" y="1508760"/>
            <a:ext cx="2606040" cy="150876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823960" y="1508760"/>
            <a:ext cx="260604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23960" y="166420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82396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Analysed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2396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758 kg/trip</a:t>
            </a:r>
            <a:endParaRPr lang="en-US" sz="1000" dirty="0"/>
          </a:p>
        </p:txBody>
      </p:sp>
      <p:sp>
        <p:nvSpPr>
          <p:cNvPr id="100" name="GaugeBg_BU1"/>
          <p:cNvSpPr/>
          <p:nvPr/>
        </p:nvSpPr>
        <p:spPr>
          <a:xfrm>
            <a:off x="882396" y="3276120"/>
            <a:ext cx="1984247" cy="1984247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2A3A4A"/>
          </a:solidFill>
          <a:ln w="180000">
            <a:solidFill>
              <a:srgbClr val="2A3A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GaugeFg_BU1"/>
          <p:cNvSpPr/>
          <p:nvPr/>
        </p:nvSpPr>
        <p:spPr>
          <a:xfrm>
            <a:off x="882396" y="3276120"/>
            <a:ext cx="1984247" cy="1984247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EF4444"/>
          </a:solidFill>
          <a:ln w="180000">
            <a:solidFill>
              <a:srgbClr val="EF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GaugeHole_BU1"/>
          <p:cNvSpPr/>
          <p:nvPr/>
        </p:nvSpPr>
        <p:spPr>
          <a:xfrm>
            <a:off x="1299088" y="3692812"/>
            <a:ext cx="1150863" cy="1150863"/>
          </a:xfrm>
          <a:prstGeom prst="ellipse">
            <a:avLst/>
          </a:prstGeom>
          <a:solidFill>
            <a:srgbClr val="0F192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GaugeLabel_BU1"/>
          <p:cNvSpPr/>
          <p:nvPr/>
        </p:nvSpPr>
        <p:spPr>
          <a:xfrm>
            <a:off x="457200" y="3772181"/>
            <a:ext cx="2834640" cy="436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</a:rPr>
              <a:t>106%</a:t>
            </a:r>
          </a:p>
        </p:txBody>
      </p:sp>
      <p:sp>
        <p:nvSpPr>
          <p:cNvPr id="104" name="GaugeName_BU1"/>
          <p:cNvSpPr/>
          <p:nvPr/>
        </p:nvSpPr>
        <p:spPr>
          <a:xfrm>
            <a:off x="457200" y="4208716"/>
            <a:ext cx="2834640" cy="357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</a:rPr>
              <a:t>BU1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  190 t / 180 t</a:t>
            </a:r>
          </a:p>
        </p:txBody>
      </p:sp>
      <p:sp>
        <p:nvSpPr>
          <p:cNvPr id="105" name="GaugeStatus_BU1"/>
          <p:cNvSpPr/>
          <p:nvPr/>
        </p:nvSpPr>
        <p:spPr>
          <a:xfrm>
            <a:off x="465704" y="4466667"/>
            <a:ext cx="2834640" cy="317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</a:rPr>
              <a:t>▲ 10 t over</a:t>
            </a:r>
          </a:p>
        </p:txBody>
      </p:sp>
      <p:sp>
        <p:nvSpPr>
          <p:cNvPr id="106" name="GaugeBg_BU2"/>
          <p:cNvSpPr/>
          <p:nvPr/>
        </p:nvSpPr>
        <p:spPr>
          <a:xfrm>
            <a:off x="3717036" y="3276120"/>
            <a:ext cx="1984247" cy="1984247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2A3A4A"/>
          </a:solidFill>
          <a:ln w="180000">
            <a:solidFill>
              <a:srgbClr val="2A3A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GaugeFg_BU2"/>
          <p:cNvSpPr/>
          <p:nvPr/>
        </p:nvSpPr>
        <p:spPr>
          <a:xfrm>
            <a:off x="3717036" y="3276120"/>
            <a:ext cx="1984247" cy="1984247"/>
          </a:xfrm>
          <a:prstGeom prst="arc">
            <a:avLst>
              <a:gd name="adj1" fmla="val 10800000"/>
              <a:gd name="adj2" fmla="val 18900000"/>
            </a:avLst>
          </a:prstGeom>
          <a:solidFill>
            <a:srgbClr val="10B981"/>
          </a:solidFill>
          <a:ln w="180000">
            <a:solidFill>
              <a:srgbClr val="10B9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GaugeHole_BU2"/>
          <p:cNvSpPr/>
          <p:nvPr/>
        </p:nvSpPr>
        <p:spPr>
          <a:xfrm>
            <a:off x="4133728" y="3692812"/>
            <a:ext cx="1150863" cy="1150863"/>
          </a:xfrm>
          <a:prstGeom prst="ellipse">
            <a:avLst/>
          </a:prstGeom>
          <a:solidFill>
            <a:srgbClr val="0F192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GaugeLabel_BU2"/>
          <p:cNvSpPr/>
          <p:nvPr/>
        </p:nvSpPr>
        <p:spPr>
          <a:xfrm>
            <a:off x="3291840" y="3772181"/>
            <a:ext cx="2834640" cy="436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</a:rPr>
              <a:t>75%</a:t>
            </a:r>
          </a:p>
        </p:txBody>
      </p:sp>
      <p:sp>
        <p:nvSpPr>
          <p:cNvPr id="110" name="GaugeName_BU2"/>
          <p:cNvSpPr/>
          <p:nvPr/>
        </p:nvSpPr>
        <p:spPr>
          <a:xfrm>
            <a:off x="3291840" y="4208716"/>
            <a:ext cx="2834640" cy="357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</a:rPr>
              <a:t>BU2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  150 t / 200 t</a:t>
            </a:r>
          </a:p>
        </p:txBody>
      </p:sp>
      <p:sp>
        <p:nvSpPr>
          <p:cNvPr id="111" name="GaugeStatus_BU2"/>
          <p:cNvSpPr/>
          <p:nvPr/>
        </p:nvSpPr>
        <p:spPr>
          <a:xfrm>
            <a:off x="3332988" y="4499312"/>
            <a:ext cx="2834640" cy="317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</a:rPr>
              <a:t>✓ 50 t left</a:t>
            </a:r>
          </a:p>
        </p:txBody>
      </p:sp>
      <p:sp>
        <p:nvSpPr>
          <p:cNvPr id="112" name="GaugeBg_BU3"/>
          <p:cNvSpPr/>
          <p:nvPr/>
        </p:nvSpPr>
        <p:spPr>
          <a:xfrm>
            <a:off x="882396" y="4876320"/>
            <a:ext cx="1984247" cy="1984247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2A3A4A"/>
          </a:solidFill>
          <a:ln w="180000">
            <a:solidFill>
              <a:srgbClr val="2A3A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GaugeFg_BU3"/>
          <p:cNvSpPr/>
          <p:nvPr/>
        </p:nvSpPr>
        <p:spPr>
          <a:xfrm>
            <a:off x="882396" y="4876320"/>
            <a:ext cx="1984247" cy="1984247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EF4444"/>
          </a:solidFill>
          <a:ln w="180000">
            <a:solidFill>
              <a:srgbClr val="EF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4" name="GaugeHole_BU3"/>
          <p:cNvSpPr/>
          <p:nvPr/>
        </p:nvSpPr>
        <p:spPr>
          <a:xfrm>
            <a:off x="1299088" y="5293012"/>
            <a:ext cx="1150863" cy="1150863"/>
          </a:xfrm>
          <a:prstGeom prst="ellipse">
            <a:avLst/>
          </a:prstGeom>
          <a:solidFill>
            <a:srgbClr val="0F192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GaugeLabel_BU3"/>
          <p:cNvSpPr/>
          <p:nvPr/>
        </p:nvSpPr>
        <p:spPr>
          <a:xfrm>
            <a:off x="457200" y="5372381"/>
            <a:ext cx="2834640" cy="436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</a:rPr>
              <a:t>142%</a:t>
            </a:r>
          </a:p>
        </p:txBody>
      </p:sp>
      <p:sp>
        <p:nvSpPr>
          <p:cNvPr id="116" name="GaugeName_BU3"/>
          <p:cNvSpPr/>
          <p:nvPr/>
        </p:nvSpPr>
        <p:spPr>
          <a:xfrm>
            <a:off x="457200" y="5808916"/>
            <a:ext cx="2834640" cy="357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</a:rPr>
              <a:t>BU3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  249 t / 175 t</a:t>
            </a:r>
          </a:p>
        </p:txBody>
      </p:sp>
      <p:sp>
        <p:nvSpPr>
          <p:cNvPr id="117" name="GaugeStatus_BU3"/>
          <p:cNvSpPr/>
          <p:nvPr/>
        </p:nvSpPr>
        <p:spPr>
          <a:xfrm>
            <a:off x="457200" y="6166080"/>
            <a:ext cx="2834640" cy="317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</a:rPr>
              <a:t>▲ 74 t over</a:t>
            </a:r>
          </a:p>
        </p:txBody>
      </p:sp>
      <p:sp>
        <p:nvSpPr>
          <p:cNvPr id="118" name="GaugeBg_BU4"/>
          <p:cNvSpPr/>
          <p:nvPr/>
        </p:nvSpPr>
        <p:spPr>
          <a:xfrm>
            <a:off x="3717036" y="4876320"/>
            <a:ext cx="1984247" cy="1984247"/>
          </a:xfrm>
          <a:prstGeom prst="arc">
            <a:avLst>
              <a:gd name="adj1" fmla="val 10800000"/>
              <a:gd name="adj2" fmla="val 21600000"/>
            </a:avLst>
          </a:prstGeom>
          <a:solidFill>
            <a:srgbClr val="2A3A4A"/>
          </a:solidFill>
          <a:ln w="180000">
            <a:solidFill>
              <a:srgbClr val="2A3A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GaugeFg_BU4"/>
          <p:cNvSpPr/>
          <p:nvPr/>
        </p:nvSpPr>
        <p:spPr>
          <a:xfrm>
            <a:off x="3717036" y="4876320"/>
            <a:ext cx="1984247" cy="1984247"/>
          </a:xfrm>
          <a:prstGeom prst="arc">
            <a:avLst>
              <a:gd name="adj1" fmla="val 10800000"/>
              <a:gd name="adj2" fmla="val 21372631"/>
            </a:avLst>
          </a:prstGeom>
          <a:solidFill>
            <a:srgbClr val="F59E0B"/>
          </a:solidFill>
          <a:ln w="180000">
            <a:solidFill>
              <a:srgbClr val="F59E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0" name="GaugeHole_BU4"/>
          <p:cNvSpPr/>
          <p:nvPr/>
        </p:nvSpPr>
        <p:spPr>
          <a:xfrm>
            <a:off x="4133728" y="5293012"/>
            <a:ext cx="1150863" cy="1150863"/>
          </a:xfrm>
          <a:prstGeom prst="ellipse">
            <a:avLst/>
          </a:prstGeom>
          <a:solidFill>
            <a:srgbClr val="0F192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GaugeLabel_BU4"/>
          <p:cNvSpPr/>
          <p:nvPr/>
        </p:nvSpPr>
        <p:spPr>
          <a:xfrm>
            <a:off x="3291840" y="5372381"/>
            <a:ext cx="2834640" cy="436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</a:rPr>
              <a:t>98%</a:t>
            </a:r>
          </a:p>
        </p:txBody>
      </p:sp>
      <p:sp>
        <p:nvSpPr>
          <p:cNvPr id="122" name="GaugeName_BU4"/>
          <p:cNvSpPr/>
          <p:nvPr/>
        </p:nvSpPr>
        <p:spPr>
          <a:xfrm>
            <a:off x="3291840" y="5808916"/>
            <a:ext cx="2834640" cy="357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</a:rPr>
              <a:t>BU4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  186 t / 190 t</a:t>
            </a:r>
          </a:p>
        </p:txBody>
      </p:sp>
      <p:sp>
        <p:nvSpPr>
          <p:cNvPr id="123" name="GaugeStatus_BU4"/>
          <p:cNvSpPr/>
          <p:nvPr/>
        </p:nvSpPr>
        <p:spPr>
          <a:xfrm>
            <a:off x="3291840" y="6166080"/>
            <a:ext cx="2834640" cy="317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</a:rPr>
              <a:t>~ 4 t left</a:t>
            </a:r>
          </a:p>
        </p:txBody>
      </p:sp>
      <p:sp>
        <p:nvSpPr>
          <p:cNvPr id="25" name="Text 22"/>
          <p:cNvSpPr/>
          <p:nvPr/>
        </p:nvSpPr>
        <p:spPr>
          <a:xfrm>
            <a:off x="6492240" y="3246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Snapshot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92240" y="3794760"/>
            <a:ext cx="5212080" cy="566928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6492240" y="3794760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6629400" y="38679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BU1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26948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190 t  ·  Optimised: 162 t  ·  Budget: 180 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50976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10 t over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92240" y="4453128"/>
            <a:ext cx="5212080" cy="566928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492240" y="4453128"/>
            <a:ext cx="54864" cy="5669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629400" y="4526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BU2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269480" y="4544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150 t  ·  Optimised: 134 t  ·  Budget: 200 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509760" y="4544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 t left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92240" y="5111496"/>
            <a:ext cx="5212080" cy="566928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6492240" y="5111496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6629400" y="51846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BU3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269480" y="5202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249 t  ·  Optimised: 198 t  ·  Budget: 175 t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509760" y="52029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74 t over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92240" y="5769864"/>
            <a:ext cx="5212080" cy="566928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39"/>
          <p:cNvSpPr/>
          <p:nvPr/>
        </p:nvSpPr>
        <p:spPr>
          <a:xfrm>
            <a:off x="6492240" y="5769864"/>
            <a:ext cx="54864" cy="5669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6629400" y="58430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BU4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269480" y="58613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186 t  ·  Optimised: 168 t  ·  Budget: 190 t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509760" y="5861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t left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Design Rationale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</a:rPr>
              <a:t>05  —  DESIGN 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</a:rPr>
              <a:t>Why These Visual Choices?</a:t>
            </a:r>
          </a:p>
        </p:txBody>
      </p:sp>
      <p:sp>
        <p:nvSpPr>
          <p:cNvPr id="4" name="Card1"/>
          <p:cNvSpPr/>
          <p:nvPr/>
        </p:nvSpPr>
        <p:spPr>
          <a:xfrm>
            <a:off x="457200" y="1645920"/>
            <a:ext cx="2651760" cy="3657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Bar1"/>
          <p:cNvSpPr/>
          <p:nvPr/>
        </p:nvSpPr>
        <p:spPr>
          <a:xfrm>
            <a:off x="457200" y="1645920"/>
            <a:ext cx="54864" cy="3657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C1"/>
          <p:cNvSpPr/>
          <p:nvPr/>
        </p:nvSpPr>
        <p:spPr>
          <a:xfrm>
            <a:off x="640080" y="1737360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Gauges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Encode status (under / approaching / over) at a glance, no numbers needed to detect overruns.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</a:rPr>
              <a:t>Red = over budget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</a:rPr>
              <a:t>Amber = approaching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</a:rPr>
              <a:t>Green = on track</a:t>
            </a:r>
          </a:p>
        </p:txBody>
      </p:sp>
      <p:sp>
        <p:nvSpPr>
          <p:cNvPr id="7" name="Card2"/>
          <p:cNvSpPr/>
          <p:nvPr/>
        </p:nvSpPr>
        <p:spPr>
          <a:xfrm>
            <a:off x="3383280" y="1645920"/>
            <a:ext cx="2651760" cy="3657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Bar2"/>
          <p:cNvSpPr/>
          <p:nvPr/>
        </p:nvSpPr>
        <p:spPr>
          <a:xfrm>
            <a:off x="3383280" y="1645920"/>
            <a:ext cx="54864" cy="3657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C2"/>
          <p:cNvSpPr/>
          <p:nvPr/>
        </p:nvSpPr>
        <p:spPr>
          <a:xfrm>
            <a:off x="3566160" y="1737360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Connection Map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Shows geographic concentration of emissions. Line thickness = CO₂ volume. Color = transport mode.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</a:rPr>
              <a:t>Answers: Where do we fly most? Which routes drive the most CO₂?</a:t>
            </a:r>
          </a:p>
        </p:txBody>
      </p:sp>
      <p:sp>
        <p:nvSpPr>
          <p:cNvPr id="10" name="Card3"/>
          <p:cNvSpPr/>
          <p:nvPr/>
        </p:nvSpPr>
        <p:spPr>
          <a:xfrm>
            <a:off x="6309360" y="1645920"/>
            <a:ext cx="2651760" cy="3657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Bar3"/>
          <p:cNvSpPr/>
          <p:nvPr/>
        </p:nvSpPr>
        <p:spPr>
          <a:xfrm>
            <a:off x="6309360" y="1645920"/>
            <a:ext cx="54864" cy="3657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C3"/>
          <p:cNvSpPr/>
          <p:nvPr/>
        </p:nvSpPr>
        <p:spPr>
          <a:xfrm>
            <a:off x="6492240" y="1737360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Ranked Table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Prioritises action: highest saving potential shown first. One row = one decision a manager can act on today.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</a:rPr>
              <a:t>Consistent BU color palette carried across all charts for zero re-learning.</a:t>
            </a:r>
          </a:p>
        </p:txBody>
      </p:sp>
      <p:sp>
        <p:nvSpPr>
          <p:cNvPr id="13" name="Card4"/>
          <p:cNvSpPr/>
          <p:nvPr/>
        </p:nvSpPr>
        <p:spPr>
          <a:xfrm>
            <a:off x="9235440" y="1645920"/>
            <a:ext cx="2194560" cy="3657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Bar4"/>
          <p:cNvSpPr/>
          <p:nvPr/>
        </p:nvSpPr>
        <p:spPr>
          <a:xfrm>
            <a:off x="9235440" y="1645920"/>
            <a:ext cx="54864" cy="3657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C4"/>
          <p:cNvSpPr/>
          <p:nvPr/>
        </p:nvSpPr>
        <p:spPr>
          <a:xfrm>
            <a:off x="9418320" y="1737360"/>
            <a:ext cx="1920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Narrative Flow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Overview → BU detail → Geography → Action. Each section answers one question before handing off to the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Flights to Trains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269748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63040" y="1691640"/>
            <a:ext cx="594360" cy="59436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9503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2598831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7276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flight is checked against historical route data for lower-CO₂ alternatives.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463040"/>
            <a:ext cx="2606040" cy="269748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594360" cy="5943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25196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59" y="1956816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3731" y="2651760"/>
            <a:ext cx="10443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8062" y="2671808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deep-dive shows CO₂ and travel time across all modes side by side.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1463040"/>
            <a:ext cx="2606040" cy="269748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7040880" y="1691640"/>
            <a:ext cx="594360" cy="59436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068504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61634" y="2743629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39842" y="2710114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applies all alternatives. KPIs and gauges update instantly.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23960" y="1463040"/>
            <a:ext cx="2606040" cy="269748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9829800" y="1691640"/>
            <a:ext cx="594360" cy="594360"/>
          </a:xfrm>
          <a:prstGeom prst="lin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0758" y="2168183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753598" y="282522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131806" y="2762543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 Excel travel plan with recommended modes for each trip.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017520" y="2651760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3"/>
          <p:cNvSpPr/>
          <p:nvPr/>
        </p:nvSpPr>
        <p:spPr>
          <a:xfrm>
            <a:off x="5806440" y="2651760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4"/>
          <p:cNvSpPr/>
          <p:nvPr/>
        </p:nvSpPr>
        <p:spPr>
          <a:xfrm>
            <a:off x="8595360" y="2651760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5"/>
          <p:cNvSpPr/>
          <p:nvPr/>
        </p:nvSpPr>
        <p:spPr>
          <a:xfrm>
            <a:off x="457200" y="4434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Saving Routes (example)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92040"/>
          <a:ext cx="11247120" cy="155448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 (t)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LJU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HOW TO USE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in 3 Steps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943600" cy="1371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94360" cy="594360"/>
          </a:xfrm>
          <a:prstGeom prst="lin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Historical Reference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16712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 with a travel_data sheet (routes, CO₂, modes) and a budget_2026 sheet mapping BU budgets in tonnes.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5943600" cy="1371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94360" cy="594360"/>
          </a:xfrm>
          <a:prstGeom prst="lin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41732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Planned Trips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72160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with upcoming trips. Without it, the dashboard analyses the historical data itself, useful for retrospective reviews.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5943600" cy="1371600"/>
          </a:xfrm>
          <a:prstGeom prst="rect">
            <a:avLst/>
          </a:prstGeom>
          <a:solidFill>
            <a:srgbClr val="192535"/>
          </a:solidFill>
          <a:ln/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594360" cy="594360"/>
          </a:xfrm>
          <a:prstGeom prst="lin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41732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CO₂ Metric &amp; Explore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27608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RFI 2 or RFI 2.7 accounting. All charts, gauges and saving calculations update live.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Excel Schema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2057400"/>
            <a:ext cx="4937760" cy="210312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9494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travel_data sheet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2542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transport_mode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27614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departure_iata / arrival_iata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9809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departure_lat/lon / arrival_lat/lon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business_unit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41985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RFI2 (t) or RFI2.7 (t)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36393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 ·  cost_CHF  ·  date  (optional)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4297680"/>
            <a:ext cx="4937760" cy="1005840"/>
          </a:xfrm>
          <a:prstGeom prst="rect">
            <a:avLst/>
          </a:prstGeom>
          <a:solidFill>
            <a:srgbClr val="192535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94944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budget_2026 sheet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479145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 (BU1, BU2, …)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50109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2026  (column name must contain '2026')</a:t>
            </a:r>
            <a:endParaRPr lang="en-US" sz="11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532120"/>
            <a:ext cx="32004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269480" y="5486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sidebar to switch CO₂ metric at any time, no reload needed.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5029200" cy="685800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498080" y="36576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TAKEAWAYS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Reduce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Carbon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Footprint?</a:t>
            </a:r>
            <a:endParaRPr lang="en-US" sz="4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1927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3291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budget compliance across all BUs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31336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380390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of mode-shift opportunities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431596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 and route deep-dives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55464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482803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with per-trip recommendations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367528"/>
            <a:ext cx="320040" cy="3200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14400" y="534009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7498080" y="502920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2800" dirty="0"/>
          </a:p>
        </p:txBody>
      </p:sp>
      <p:sp>
        <p:nvSpPr>
          <p:cNvPr id="17" name="Text 9"/>
          <p:cNvSpPr/>
          <p:nvPr/>
        </p:nvSpPr>
        <p:spPr>
          <a:xfrm>
            <a:off x="7680960" y="5669280"/>
            <a:ext cx="384048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0" y="649224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 ·  Plotly  ·  Python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991</Words>
  <Application>Microsoft Macintosh PowerPoint</Application>
  <PresentationFormat>Breitbild</PresentationFormat>
  <Paragraphs>187</Paragraphs>
  <Slides>9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Travel CO2 Dashboard</dc:title>
  <dc:subject>PptxGenJS Presentation</dc:subject>
  <dc:creator>Sustainability Team</dc:creator>
  <cp:lastModifiedBy>Filippone Dario (filipda1)</cp:lastModifiedBy>
  <cp:revision>4</cp:revision>
  <dcterms:created xsi:type="dcterms:W3CDTF">2026-05-05T10:08:59Z</dcterms:created>
  <dcterms:modified xsi:type="dcterms:W3CDTF">2026-05-31T18:55:18Z</dcterms:modified>
</cp:coreProperties>
</file>